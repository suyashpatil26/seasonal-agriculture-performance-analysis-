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7" y="3651585"/>
            <a:ext cx="4389035" cy="861497"/>
          </a:xfrm>
        </p:spPr>
        <p:txBody>
          <a:bodyPr vert="horz" lIns="91440" tIns="45720" rIns="91440" bIns="45720" rtlCol="0" anchor="t">
            <a:noAutofit/>
          </a:bodyPr>
          <a:lstStyle/>
          <a:p>
            <a:pPr algn="r"/>
            <a:r>
              <a:rPr lang="en-US" sz="1800" dirty="0">
                <a:solidFill>
                  <a:schemeClr val="tx1"/>
                </a:solidFill>
                <a:latin typeface="+mn-lt"/>
              </a:rPr>
              <a:t>Name: Suyash Narendra Patil </a:t>
            </a:r>
            <a:endParaRPr lang="en-IN" sz="1800" dirty="0">
              <a:solidFill>
                <a:schemeClr val="tx1"/>
              </a:solidFill>
              <a:latin typeface="+mn-lt"/>
            </a:endParaRPr>
          </a:p>
          <a:p>
            <a:pPr algn="r"/>
            <a:r>
              <a:rPr lang="en-US" sz="1800" dirty="0">
                <a:solidFill>
                  <a:schemeClr val="tx1"/>
                </a:solidFill>
                <a:latin typeface="+mn-lt"/>
              </a:rPr>
              <a:t>College Name- Vishwakarma University</a:t>
            </a:r>
            <a:endParaRPr lang="en-IN" sz="1800" dirty="0">
              <a:solidFill>
                <a:schemeClr val="tx1"/>
              </a:solidFill>
              <a:latin typeface="+mn-lt"/>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641293" cy="743448"/>
          </a:xfrm>
        </p:spPr>
        <p:txBody>
          <a:bodyPr>
            <a:normAutofit fontScale="90000"/>
          </a:bodyPr>
          <a:lstStyle/>
          <a:p>
            <a:r>
              <a:rPr lang="en-GB" sz="3200" dirty="0"/>
              <a:t>Project Title - </a:t>
            </a:r>
            <a:r>
              <a:rPr lang="en-IN" sz="3200" dirty="0"/>
              <a:t>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4389035" cy="646331"/>
          </a:xfrm>
          <a:prstGeom prst="rect">
            <a:avLst/>
          </a:prstGeom>
          <a:noFill/>
        </p:spPr>
        <p:txBody>
          <a:bodyPr wrap="square" rtlCol="0">
            <a:spAutoFit/>
          </a:bodyPr>
          <a:lstStyle/>
          <a:p>
            <a:r>
              <a:rPr lang="en-US" b="1" dirty="0"/>
              <a:t>AICTE STU ID : STU6a60c7f42cd921784727540</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625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a:t>
            </a:r>
          </a:p>
          <a:p>
            <a:pPr>
              <a:lnSpc>
                <a:spcPct val="100000"/>
              </a:lnSpc>
            </a:pPr>
            <a:r>
              <a:rPr lang="en-US" sz="2800" dirty="0"/>
              <a:t>However, raw agricultural data does not clearly explain how agricultural performance changes across seasons or what patterns can be observed in different seasonal conditions. </a:t>
            </a:r>
          </a:p>
          <a:p>
            <a:pPr>
              <a:lnSpc>
                <a:spcPct val="100000"/>
              </a:lnSpc>
            </a:pPr>
            <a:r>
              <a:rPr lang="en-US" sz="2800" dirty="0"/>
              <a:t>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000" b="0" dirty="0">
                <a:latin typeface="+mn-lt"/>
              </a:rPr>
              <a:t>This project </a:t>
            </a:r>
            <a:r>
              <a:rPr lang="en-IN" sz="2000" b="0" dirty="0" err="1">
                <a:latin typeface="+mn-lt"/>
              </a:rPr>
              <a:t>analyzes</a:t>
            </a:r>
            <a:r>
              <a:rPr lang="en-IN" sz="2000" b="0" dirty="0">
                <a:latin typeface="+mn-lt"/>
              </a:rPr>
              <a:t> agricultural data across Kharif, Rabi, and Zaid seasons to identify seasonal variations in crop yield, production, environmental conditions, resource usage, and economic performance. Using Python, Pandas, NumPy, Matplotlib, and Seaborn, the dataset is cleaned, explored, and visualized to discover meaningful patterns and relationships. Statistical analysis is used to evaluate significant seasonal differences, while correlation and outlier analysis help identify important factors and unusual observations. The project concludes with evidence-based insights and recommendations for better seasonal agricultural planning and resource management.</a:t>
            </a:r>
            <a:br>
              <a:rPr lang="en-GB" sz="2000" b="0" dirty="0">
                <a:latin typeface="+mn-lt"/>
              </a:rPr>
            </a:br>
            <a:endParaRPr lang="en-IN" sz="2000" b="0" dirty="0">
              <a:latin typeface="+mn-lt"/>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sz="1800" b="1" dirty="0"/>
              <a:t>Farmers</a:t>
            </a:r>
            <a:r>
              <a:rPr lang="en-IN" sz="1800" dirty="0"/>
              <a:t> – To understand which seasons, crops, and farming practices show better yield, profitability, and resource efficiency. </a:t>
            </a:r>
          </a:p>
          <a:p>
            <a:pPr lvl="0"/>
            <a:r>
              <a:rPr lang="en-IN" sz="1800" b="1" dirty="0"/>
              <a:t>Agricultural Planners &amp; Government Departments</a:t>
            </a:r>
            <a:r>
              <a:rPr lang="en-IN" sz="1800" dirty="0"/>
              <a:t> – To support seasonal agricultural planning and identify areas that may require attention or resources. </a:t>
            </a:r>
          </a:p>
          <a:p>
            <a:pPr lvl="0"/>
            <a:r>
              <a:rPr lang="en-IN" sz="1800" b="1" dirty="0"/>
              <a:t>Agricultural Researchers</a:t>
            </a:r>
            <a:r>
              <a:rPr lang="en-IN" sz="1800" dirty="0"/>
              <a:t> – To study relationships between environmental conditions, farming practices, resources, and crop performance. </a:t>
            </a:r>
          </a:p>
          <a:p>
            <a:pPr lvl="0"/>
            <a:r>
              <a:rPr lang="en-IN" sz="1800" b="1" dirty="0"/>
              <a:t>Agribusinesses &amp; Agricultural Companies</a:t>
            </a:r>
            <a:r>
              <a:rPr lang="en-IN" sz="1800" dirty="0"/>
              <a:t> – To understand production, resource usage, market performance, and seasonal trends. </a:t>
            </a:r>
          </a:p>
          <a:p>
            <a:pPr lvl="0"/>
            <a:r>
              <a:rPr lang="en-IN" sz="1800" b="1" dirty="0"/>
              <a:t>Agricultural Consultants</a:t>
            </a:r>
            <a:r>
              <a:rPr lang="en-IN" sz="1800" dirty="0"/>
              <a:t> – To use data-driven insights when advising farmers about crop and seasonal planning.</a:t>
            </a:r>
          </a:p>
          <a:p>
            <a:pPr marL="0" indent="0" algn="just">
              <a:lnSpc>
                <a:spcPct val="150000"/>
              </a:lnSpc>
              <a:buNone/>
            </a:pP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315059"/>
            <a:ext cx="9027702" cy="5243448"/>
          </a:xfrm>
        </p:spPr>
        <p:txBody>
          <a:bodyPr/>
          <a:lstStyle/>
          <a:p>
            <a:pPr lvl="0"/>
            <a:r>
              <a:rPr lang="en-IN" sz="1800" b="1" dirty="0"/>
              <a:t>Python</a:t>
            </a:r>
            <a:r>
              <a:rPr lang="en-IN" sz="1800" dirty="0"/>
              <a:t> – Main programming language for data analysis </a:t>
            </a:r>
          </a:p>
          <a:p>
            <a:pPr lvl="0"/>
            <a:r>
              <a:rPr lang="en-IN" sz="1800" b="1" dirty="0"/>
              <a:t>Google </a:t>
            </a:r>
            <a:r>
              <a:rPr lang="en-IN" sz="1800" b="1" dirty="0" err="1"/>
              <a:t>Colab</a:t>
            </a:r>
            <a:r>
              <a:rPr lang="en-IN" sz="1800" dirty="0"/>
              <a:t> – Cloud-based environment for developing and running the Jupyter Notebook </a:t>
            </a:r>
          </a:p>
          <a:p>
            <a:pPr lvl="0"/>
            <a:r>
              <a:rPr lang="en-IN" sz="1800" b="1" dirty="0"/>
              <a:t>Pandas</a:t>
            </a:r>
            <a:r>
              <a:rPr lang="en-IN" sz="1800" dirty="0"/>
              <a:t> – Data loading, cleaning, transformation, and analysis </a:t>
            </a:r>
          </a:p>
          <a:p>
            <a:pPr lvl="0"/>
            <a:r>
              <a:rPr lang="en-IN" sz="1800" b="1" dirty="0"/>
              <a:t>NumPy</a:t>
            </a:r>
            <a:r>
              <a:rPr lang="en-IN" sz="1800" dirty="0"/>
              <a:t> – Numerical calculations and data processing </a:t>
            </a:r>
          </a:p>
          <a:p>
            <a:pPr lvl="0"/>
            <a:r>
              <a:rPr lang="en-IN" sz="1800" b="1" dirty="0"/>
              <a:t>Matplotlib</a:t>
            </a:r>
            <a:r>
              <a:rPr lang="en-IN" sz="1800" dirty="0"/>
              <a:t> – Data visualization and charts </a:t>
            </a:r>
          </a:p>
          <a:p>
            <a:pPr lvl="0"/>
            <a:r>
              <a:rPr lang="en-IN" sz="1800" b="1" dirty="0"/>
              <a:t>Seaborn</a:t>
            </a:r>
            <a:r>
              <a:rPr lang="en-IN" sz="1800" dirty="0"/>
              <a:t> – Statistical visualizations and graphical analysis </a:t>
            </a:r>
          </a:p>
          <a:p>
            <a:pPr lvl="0"/>
            <a:r>
              <a:rPr lang="en-IN" sz="1800" b="1" dirty="0"/>
              <a:t>SciPy</a:t>
            </a:r>
            <a:r>
              <a:rPr lang="en-IN" sz="1800" dirty="0"/>
              <a:t> – Statistical analysis and hypothesis testing</a:t>
            </a:r>
          </a:p>
          <a:p>
            <a:pPr lvl="1">
              <a:lnSpc>
                <a:spcPct val="150000"/>
              </a:lnSpc>
            </a:pPr>
            <a:endParaRPr lang="en-IN" sz="18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357E773-CF0D-287F-A249-D7500F2BC008}"/>
              </a:ext>
            </a:extLst>
          </p:cNvPr>
          <p:cNvPicPr>
            <a:picLocks noChangeAspect="1"/>
          </p:cNvPicPr>
          <p:nvPr/>
        </p:nvPicPr>
        <p:blipFill>
          <a:blip r:embed="rId3"/>
          <a:stretch>
            <a:fillRect/>
          </a:stretch>
        </p:blipFill>
        <p:spPr>
          <a:xfrm>
            <a:off x="320982" y="1608410"/>
            <a:ext cx="8337826" cy="433364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B99163C-79D7-78A9-1195-7A58698185B0}"/>
              </a:ext>
            </a:extLst>
          </p:cNvPr>
          <p:cNvPicPr>
            <a:picLocks noChangeAspect="1"/>
          </p:cNvPicPr>
          <p:nvPr/>
        </p:nvPicPr>
        <p:blipFill>
          <a:blip r:embed="rId3"/>
          <a:stretch>
            <a:fillRect/>
          </a:stretch>
        </p:blipFill>
        <p:spPr>
          <a:xfrm>
            <a:off x="498908" y="1010430"/>
            <a:ext cx="8533126" cy="565453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F765ABC-FE83-9F6E-43B5-44BDC2BC56AB}"/>
              </a:ext>
            </a:extLst>
          </p:cNvPr>
          <p:cNvPicPr>
            <a:picLocks noChangeAspect="1"/>
          </p:cNvPicPr>
          <p:nvPr/>
        </p:nvPicPr>
        <p:blipFill>
          <a:blip r:embed="rId3"/>
          <a:stretch>
            <a:fillRect/>
          </a:stretch>
        </p:blipFill>
        <p:spPr>
          <a:xfrm>
            <a:off x="320982" y="2065535"/>
            <a:ext cx="9186912" cy="310160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0C68001A-2B07-6E86-71B3-18D2988380D3}"/>
              </a:ext>
            </a:extLst>
          </p:cNvPr>
          <p:cNvPicPr>
            <a:picLocks noChangeAspect="1"/>
          </p:cNvPicPr>
          <p:nvPr/>
        </p:nvPicPr>
        <p:blipFill>
          <a:blip r:embed="rId3"/>
          <a:stretch>
            <a:fillRect/>
          </a:stretch>
        </p:blipFill>
        <p:spPr>
          <a:xfrm>
            <a:off x="327941" y="1431693"/>
            <a:ext cx="8847587" cy="308636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EA66A89-5690-B40F-0F3D-4A38D8E72ED2}"/>
              </a:ext>
            </a:extLst>
          </p:cNvPr>
          <p:cNvPicPr>
            <a:picLocks noChangeAspect="1"/>
          </p:cNvPicPr>
          <p:nvPr/>
        </p:nvPicPr>
        <p:blipFill>
          <a:blip r:embed="rId3"/>
          <a:stretch>
            <a:fillRect/>
          </a:stretch>
        </p:blipFill>
        <p:spPr>
          <a:xfrm>
            <a:off x="591981" y="1347078"/>
            <a:ext cx="8779001" cy="374936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174CE89-6AE8-B855-A41F-2CE6E4AA6D64}"/>
              </a:ext>
            </a:extLst>
          </p:cNvPr>
          <p:cNvSpPr txBox="1"/>
          <p:nvPr/>
        </p:nvSpPr>
        <p:spPr>
          <a:xfrm>
            <a:off x="802432" y="1201586"/>
            <a:ext cx="6102220" cy="5355312"/>
          </a:xfrm>
          <a:prstGeom prst="rect">
            <a:avLst/>
          </a:prstGeom>
          <a:noFill/>
        </p:spPr>
        <p:txBody>
          <a:bodyPr wrap="square">
            <a:spAutoFit/>
          </a:bodyPr>
          <a:lstStyle/>
          <a:p>
            <a:pPr marL="342900" lvl="0" indent="-342900">
              <a:buFont typeface="Arial" panose="020B0604020202020204" pitchFamily="34" charset="0"/>
              <a:buChar char="•"/>
            </a:pPr>
            <a:r>
              <a:rPr lang="en-IN" b="1" dirty="0"/>
              <a:t>Predictive Analytics:</a:t>
            </a:r>
            <a:r>
              <a:rPr lang="en-IN" dirty="0"/>
              <a:t> Develop machine learning models to predict crop yield and agricultural performance for upcoming seasons.</a:t>
            </a:r>
          </a:p>
          <a:p>
            <a:pPr marL="342900" lvl="0" indent="-342900">
              <a:buFont typeface="Arial" panose="020B0604020202020204" pitchFamily="34" charset="0"/>
              <a:buChar char="•"/>
            </a:pPr>
            <a:r>
              <a:rPr lang="en-IN" b="1" dirty="0"/>
              <a:t>Weather Integration:</a:t>
            </a:r>
            <a:r>
              <a:rPr lang="en-IN" dirty="0"/>
              <a:t> Integrate real-time weather data such as rainfall, temperature, humidity, and weather forecasts.</a:t>
            </a:r>
          </a:p>
          <a:p>
            <a:pPr marL="342900" lvl="0" indent="-342900">
              <a:buFont typeface="Arial" panose="020B0604020202020204" pitchFamily="34" charset="0"/>
              <a:buChar char="•"/>
            </a:pPr>
            <a:r>
              <a:rPr lang="en-IN" b="1" dirty="0"/>
              <a:t>Crop Recommendation:</a:t>
            </a:r>
            <a:r>
              <a:rPr lang="en-IN" dirty="0"/>
              <a:t> Build a recommendation system to suggest suitable crops based on season, soil conditions, and environmental factors.</a:t>
            </a:r>
          </a:p>
          <a:p>
            <a:pPr marL="342900" lvl="0" indent="-342900">
              <a:buFont typeface="Arial" panose="020B0604020202020204" pitchFamily="34" charset="0"/>
              <a:buChar char="•"/>
            </a:pPr>
            <a:r>
              <a:rPr lang="en-IN" b="1" dirty="0"/>
              <a:t>Smart Resource Management:</a:t>
            </a:r>
            <a:r>
              <a:rPr lang="en-IN" dirty="0"/>
              <a:t> Predict and optimize water, fertilizer, and pesticide requirements to reduce resource wastage.</a:t>
            </a:r>
          </a:p>
          <a:p>
            <a:pPr marL="342900" lvl="0" indent="-342900">
              <a:buFont typeface="Arial" panose="020B0604020202020204" pitchFamily="34" charset="0"/>
              <a:buChar char="•"/>
            </a:pPr>
            <a:r>
              <a:rPr lang="en-IN" b="1" dirty="0"/>
              <a:t>Regional Analysis:</a:t>
            </a:r>
            <a:r>
              <a:rPr lang="en-IN" dirty="0"/>
              <a:t> Expand the system to provide detailed agricultural insights for different states, districts, and geographical regions.</a:t>
            </a:r>
          </a:p>
          <a:p>
            <a:pPr marL="342900" lvl="0" indent="-342900">
              <a:buFont typeface="Arial" panose="020B0604020202020204" pitchFamily="34" charset="0"/>
              <a:buChar char="•"/>
            </a:pPr>
            <a:r>
              <a:rPr lang="en-IN" b="1" dirty="0"/>
              <a:t>Real-Time Dashboard:</a:t>
            </a:r>
            <a:r>
              <a:rPr lang="en-IN" dirty="0"/>
              <a:t> Develop an interactive dashboard using Power BI, Tableau, or a web application for easier monitoring and decision-making.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https://github.com/suyashpatil26/Seasonal-Agriculture-Performance-Analysis-.git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6F0A4FE-B52C-37B5-D899-C2E4167AFFA6}"/>
              </a:ext>
            </a:extLst>
          </p:cNvPr>
          <p:cNvPicPr>
            <a:picLocks noChangeAspect="1"/>
          </p:cNvPicPr>
          <p:nvPr/>
        </p:nvPicPr>
        <p:blipFill>
          <a:blip r:embed="rId3"/>
          <a:stretch>
            <a:fillRect/>
          </a:stretch>
        </p:blipFill>
        <p:spPr>
          <a:xfrm>
            <a:off x="549069" y="1546198"/>
            <a:ext cx="6912100" cy="492572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90514" y="2971892"/>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1392</TotalTime>
  <Words>548</Words>
  <Application>Microsoft Office PowerPoint</Application>
  <PresentationFormat>Widescreen</PresentationFormat>
  <Paragraphs>43</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This project analyzes agricultural data across Kharif, Rabi, and Zaid seasons to identify seasonal variations in crop yield, production, environmental conditions, resource usage, and economic performance. Using Python, Pandas, NumPy, Matplotlib, and Seaborn, the dataset is cleaned, explored, and visualized to discover meaningful patterns and relationships. Statistical analysis is used to evaluate significant seasonal differences, while correlation and outlier analysis help identify important factors and unusual observations. The project concludes with evidence-based insights and recommendations for better seasonal agricultural planning and resource management.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SUYASH P</cp:lastModifiedBy>
  <cp:revision>99</cp:revision>
  <dcterms:created xsi:type="dcterms:W3CDTF">2021-07-11T13:13:15Z</dcterms:created>
  <dcterms:modified xsi:type="dcterms:W3CDTF">2026-09-06T13:05:30Z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